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</p:sldIdLst>
  <p:sldSz cy="6858000" cx="9906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P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PT"/>
              <a:t>Pode ainda ser uma propriedade aplicada a vários estados (ex: </a:t>
            </a:r>
            <a:r>
              <a:rPr b="1" lang="pt-PT"/>
              <a:t>no caso de um aspirador, o objetivo é não deixar lixo em nenhuma localização</a:t>
            </a:r>
            <a:r>
              <a:rPr lang="pt-PT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>
  <p:cSld name="Diapositivo de Título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32520" y="1122362"/>
            <a:ext cx="6097604" cy="2882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75"/>
              <a:buFont typeface="Play"/>
              <a:buNone/>
              <a:defRPr sz="4875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632520" y="4149080"/>
            <a:ext cx="6097604" cy="110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950"/>
              <a:buNone/>
              <a:defRPr sz="195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463"/>
              <a:buNone/>
              <a:defRPr sz="1463"/>
            </a:lvl3pPr>
            <a:lvl4pPr lvl="3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cxnSp>
        <p:nvCxnSpPr>
          <p:cNvPr id="21" name="Google Shape;21;p2"/>
          <p:cNvCxnSpPr/>
          <p:nvPr/>
        </p:nvCxnSpPr>
        <p:spPr>
          <a:xfrm>
            <a:off x="632520" y="1132938"/>
            <a:ext cx="6097604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" name="Google Shape;22;p2"/>
          <p:cNvCxnSpPr/>
          <p:nvPr/>
        </p:nvCxnSpPr>
        <p:spPr>
          <a:xfrm>
            <a:off x="632520" y="4005064"/>
            <a:ext cx="6097604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to">
  <p:cSld name="Título e Objeto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441523" y="365127"/>
            <a:ext cx="8543925" cy="759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3575"/>
              <a:buFont typeface="Play"/>
              <a:buNone/>
              <a:defRPr b="1">
                <a:solidFill>
                  <a:srgbClr val="374C8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441523" y="1340768"/>
            <a:ext cx="8543925" cy="4836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cxnSp>
        <p:nvCxnSpPr>
          <p:cNvPr id="28" name="Google Shape;28;p3"/>
          <p:cNvCxnSpPr/>
          <p:nvPr/>
        </p:nvCxnSpPr>
        <p:spPr>
          <a:xfrm>
            <a:off x="441523" y="1124744"/>
            <a:ext cx="8543925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>
            <a:off x="441525" y="1124744"/>
            <a:ext cx="8543925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675879" y="1709739"/>
            <a:ext cx="679740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75"/>
              <a:buFont typeface="Play"/>
              <a:buNone/>
              <a:defRPr sz="4875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675878" y="4589464"/>
            <a:ext cx="6797403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950"/>
              <a:buNone/>
              <a:defRPr sz="195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25"/>
              <a:buNone/>
              <a:defRPr sz="162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463"/>
              <a:buNone/>
              <a:defRPr sz="1463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441523" y="365127"/>
            <a:ext cx="8543925" cy="759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3575"/>
              <a:buFont typeface="Play"/>
              <a:buNone/>
              <a:defRPr>
                <a:solidFill>
                  <a:srgbClr val="374C8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44152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77539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cxnSp>
        <p:nvCxnSpPr>
          <p:cNvPr id="41" name="Google Shape;41;p5"/>
          <p:cNvCxnSpPr/>
          <p:nvPr/>
        </p:nvCxnSpPr>
        <p:spPr>
          <a:xfrm>
            <a:off x="441523" y="1124744"/>
            <a:ext cx="8543925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441523" y="340767"/>
            <a:ext cx="8543925" cy="759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3575"/>
              <a:buFont typeface="Play"/>
              <a:buNone/>
              <a:defRPr>
                <a:solidFill>
                  <a:srgbClr val="374C8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441523" y="1656804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25"/>
              <a:buNone/>
              <a:defRPr b="1" sz="1625"/>
            </a:lvl2pPr>
            <a:lvl3pPr indent="-2286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463"/>
              <a:buNone/>
              <a:defRPr b="1" sz="1463"/>
            </a:lvl3pPr>
            <a:lvl4pPr indent="-2286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300"/>
              <a:buNone/>
              <a:defRPr b="1" sz="1300"/>
            </a:lvl4pPr>
            <a:lvl5pPr indent="-2286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300"/>
              <a:buNone/>
              <a:defRPr b="1" sz="1300"/>
            </a:lvl5pPr>
            <a:lvl6pPr indent="-2286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6pPr>
            <a:lvl7pPr indent="-2286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7pPr>
            <a:lvl8pPr indent="-2286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8pPr>
            <a:lvl9pPr indent="-2286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41523" y="2480716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4774108" y="1656804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25"/>
              <a:buNone/>
              <a:defRPr b="1" sz="1625"/>
            </a:lvl2pPr>
            <a:lvl3pPr indent="-2286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463"/>
              <a:buNone/>
              <a:defRPr b="1" sz="1463"/>
            </a:lvl3pPr>
            <a:lvl4pPr indent="-2286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300"/>
              <a:buNone/>
              <a:defRPr b="1" sz="1300"/>
            </a:lvl4pPr>
            <a:lvl5pPr indent="-2286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300"/>
              <a:buNone/>
              <a:defRPr b="1" sz="1300"/>
            </a:lvl5pPr>
            <a:lvl6pPr indent="-2286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6pPr>
            <a:lvl7pPr indent="-2286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7pPr>
            <a:lvl8pPr indent="-2286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8pPr>
            <a:lvl9pPr indent="-2286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4774108" y="2480716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cxnSp>
        <p:nvCxnSpPr>
          <p:cNvPr id="50" name="Google Shape;50;p6"/>
          <p:cNvCxnSpPr/>
          <p:nvPr/>
        </p:nvCxnSpPr>
        <p:spPr>
          <a:xfrm>
            <a:off x="440233" y="1100385"/>
            <a:ext cx="8543925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441523" y="365127"/>
            <a:ext cx="8543925" cy="759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3575"/>
              <a:buFont typeface="Play"/>
              <a:buNone/>
              <a:defRPr>
                <a:solidFill>
                  <a:srgbClr val="374C8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cxnSp>
        <p:nvCxnSpPr>
          <p:cNvPr id="55" name="Google Shape;55;p7"/>
          <p:cNvCxnSpPr/>
          <p:nvPr/>
        </p:nvCxnSpPr>
        <p:spPr>
          <a:xfrm>
            <a:off x="441523" y="1124744"/>
            <a:ext cx="8543925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441523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Play"/>
              <a:buNone/>
              <a:defRPr sz="2600">
                <a:solidFill>
                  <a:srgbClr val="00339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3970535" y="987426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31787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6pPr>
            <a:lvl7pPr indent="-331787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7pPr>
            <a:lvl8pPr indent="-331787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8pPr>
            <a:lvl9pPr indent="-331787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441523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30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138"/>
              <a:buNone/>
              <a:defRPr sz="1138"/>
            </a:lvl2pPr>
            <a:lvl3pPr indent="-2286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975"/>
              <a:buNone/>
              <a:defRPr sz="975"/>
            </a:lvl3pPr>
            <a:lvl4pPr indent="-2286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813"/>
              <a:buNone/>
              <a:defRPr sz="813"/>
            </a:lvl4pPr>
            <a:lvl5pPr indent="-2286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813"/>
              <a:buNone/>
              <a:defRPr sz="813"/>
            </a:lvl5pPr>
            <a:lvl6pPr indent="-2286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6pPr>
            <a:lvl7pPr indent="-2286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7pPr>
            <a:lvl8pPr indent="-2286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8pPr>
            <a:lvl9pPr indent="-2286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cxnSp>
        <p:nvCxnSpPr>
          <p:cNvPr id="65" name="Google Shape;65;p9"/>
          <p:cNvCxnSpPr/>
          <p:nvPr/>
        </p:nvCxnSpPr>
        <p:spPr>
          <a:xfrm>
            <a:off x="440233" y="2049441"/>
            <a:ext cx="3196233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441523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600"/>
              <a:buFont typeface="Play"/>
              <a:buNone/>
              <a:defRPr sz="2600">
                <a:solidFill>
                  <a:srgbClr val="00339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3970535" y="987426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441523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30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138"/>
              <a:buNone/>
              <a:defRPr sz="1138"/>
            </a:lvl2pPr>
            <a:lvl3pPr indent="-2286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975"/>
              <a:buNone/>
              <a:defRPr sz="975"/>
            </a:lvl3pPr>
            <a:lvl4pPr indent="-2286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813"/>
              <a:buNone/>
              <a:defRPr sz="813"/>
            </a:lvl4pPr>
            <a:lvl5pPr indent="-2286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813"/>
              <a:buNone/>
              <a:defRPr sz="813"/>
            </a:lvl5pPr>
            <a:lvl6pPr indent="-2286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6pPr>
            <a:lvl7pPr indent="-2286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7pPr>
            <a:lvl8pPr indent="-2286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8pPr>
            <a:lvl9pPr indent="-2286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3"/>
              <a:buNone/>
              <a:defRPr sz="813"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440233" y="2049441"/>
            <a:ext cx="3196233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441523" y="365127"/>
            <a:ext cx="8543925" cy="759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3575"/>
              <a:buFont typeface="Play"/>
              <a:buNone/>
              <a:defRPr>
                <a:solidFill>
                  <a:srgbClr val="00339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2295388" y="-513097"/>
            <a:ext cx="4836195" cy="854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cxnSp>
        <p:nvCxnSpPr>
          <p:cNvPr id="78" name="Google Shape;78;p11"/>
          <p:cNvCxnSpPr/>
          <p:nvPr/>
        </p:nvCxnSpPr>
        <p:spPr>
          <a:xfrm>
            <a:off x="441523" y="1124744"/>
            <a:ext cx="8543925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5251052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917177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abela" type="tbl">
  <p:cSld name="TAB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95300" y="457200"/>
            <a:ext cx="8915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e objecto" type="txAndObj">
  <p:cSld name="TEXT_AND_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95300" y="457200"/>
            <a:ext cx="8915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95300" y="1981200"/>
            <a:ext cx="43815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5029200" y="1981200"/>
            <a:ext cx="43815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e 2 objectos" type="txAndTwoObj">
  <p:cSld name="TEXT_AND_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95300" y="457200"/>
            <a:ext cx="8915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95300" y="1981200"/>
            <a:ext cx="43815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2" type="body"/>
          </p:nvPr>
        </p:nvSpPr>
        <p:spPr>
          <a:xfrm>
            <a:off x="5029200" y="1981200"/>
            <a:ext cx="43815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3" type="body"/>
          </p:nvPr>
        </p:nvSpPr>
        <p:spPr>
          <a:xfrm>
            <a:off x="5029200" y="4000500"/>
            <a:ext cx="43815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objecto e texto" type="objAndTx">
  <p:cSld name="OBJECT_AND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95300" y="457200"/>
            <a:ext cx="8915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95300" y="1981200"/>
            <a:ext cx="43815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5029200" y="1981200"/>
            <a:ext cx="43815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1" type="ftr"/>
          </p:nvPr>
        </p:nvSpPr>
        <p:spPr>
          <a:xfrm>
            <a:off x="3281363" y="644744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41523" y="365127"/>
            <a:ext cx="8543925" cy="759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3575"/>
              <a:buFont typeface="Play"/>
              <a:buNone/>
              <a:defRPr b="0" i="0" sz="3575" u="none" cap="none" strike="noStrike">
                <a:solidFill>
                  <a:srgbClr val="374C8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41523" y="1340768"/>
            <a:ext cx="8543925" cy="4836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062" lvl="0" marL="457200" marR="0" rtl="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rgbClr val="0E57C4"/>
              </a:buClr>
              <a:buSzPts val="2275"/>
              <a:buFont typeface="Noto Sans Symbols"/>
              <a:buChar char="▪"/>
              <a:defRPr b="0" i="0" sz="22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2425" lvl="1" marL="9144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0E57C4"/>
              </a:buClr>
              <a:buSzPts val="1950"/>
              <a:buFont typeface="Arial"/>
              <a:buChar char="•"/>
              <a:defRPr b="0" i="0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787" lvl="2" marL="13716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0E57C4"/>
              </a:buClr>
              <a:buSzPts val="1625"/>
              <a:buFont typeface="Arial"/>
              <a:buChar char="•"/>
              <a:defRPr b="0" i="0" sz="16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1500" lvl="3" marL="18288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0E57C4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1500" lvl="4" marL="22860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0E57C4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1500" lvl="5" marL="27432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1500" lvl="6" marL="32004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1500" lvl="7" marL="36576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1500" lvl="8" marL="41148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620694" y="6448251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993248" y="44626"/>
            <a:ext cx="866896" cy="37152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431215" y="6630005"/>
            <a:ext cx="4144627" cy="214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PT" sz="1400" u="none" cap="small" strike="noStrike">
                <a:solidFill>
                  <a:srgbClr val="374C81"/>
                </a:solidFill>
                <a:latin typeface="Arial"/>
                <a:ea typeface="Arial"/>
                <a:cs typeface="Arial"/>
                <a:sym typeface="Arial"/>
              </a:rPr>
              <a:t>Inteligência Artificial – Engenharia Informática – 2º Ano</a:t>
            </a:r>
            <a:endParaRPr/>
          </a:p>
        </p:txBody>
      </p:sp>
      <p:sp>
        <p:nvSpPr>
          <p:cNvPr id="15" name="Google Shape;15;p1"/>
          <p:cNvSpPr txBox="1"/>
          <p:nvPr/>
        </p:nvSpPr>
        <p:spPr>
          <a:xfrm>
            <a:off x="5330160" y="6630005"/>
            <a:ext cx="4144627" cy="214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PT" sz="1400" u="none" cap="small" strike="noStrike">
                <a:solidFill>
                  <a:srgbClr val="374C81"/>
                </a:solidFill>
                <a:latin typeface="Arial"/>
                <a:ea typeface="Arial"/>
                <a:cs typeface="Arial"/>
                <a:sym typeface="Arial"/>
              </a:rPr>
              <a:t>Trabalho prático – Métodos de Pesquisa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632520" y="1122362"/>
            <a:ext cx="6097604" cy="2882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8461"/>
              <a:buFont typeface="Play"/>
              <a:buNone/>
            </a:pPr>
            <a:r>
              <a:rPr lang="pt-PT"/>
              <a:t>Group06</a:t>
            </a:r>
            <a:br>
              <a:rPr lang="pt-PT"/>
            </a:br>
            <a:r>
              <a:rPr lang="pt-PT"/>
              <a:t>Trabalho prático 10</a:t>
            </a:r>
            <a:br>
              <a:rPr lang="pt-PT"/>
            </a:br>
            <a:br>
              <a:rPr lang="pt-PT"/>
            </a:br>
            <a:r>
              <a:rPr lang="pt-PT" sz="2700"/>
              <a:t>Felipe Amorim do Carmo Silva</a:t>
            </a:r>
            <a:r>
              <a:rPr lang="pt-PT" sz="2700"/>
              <a:t> – 37172</a:t>
            </a:r>
            <a:br>
              <a:rPr lang="pt-PT" sz="2700"/>
            </a:br>
            <a:r>
              <a:rPr lang="pt-PT" sz="2700"/>
              <a:t>Krzysztof Kosmalski </a:t>
            </a:r>
            <a:r>
              <a:rPr lang="pt-PT" sz="2700"/>
              <a:t>– YOUR STUDENT NUMBER</a:t>
            </a:r>
            <a:endParaRPr/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632520" y="4149080"/>
            <a:ext cx="6097604" cy="110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pt-PT"/>
              <a:t>Inteligência Artificial – TP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900"/>
              <a:buNone/>
            </a:pPr>
            <a:r>
              <a:rPr lang="pt-PT"/>
              <a:t>Engenharia Informática – 2º ano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SzPts val="1900"/>
              <a:buNone/>
            </a:pPr>
            <a:r>
              <a:rPr lang="pt-PT"/>
              <a:t>2025/2026 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3">
            <a:alphaModFix/>
          </a:blip>
          <a:srcRect b="2240" l="1779" r="2624" t="2972"/>
          <a:stretch/>
        </p:blipFill>
        <p:spPr>
          <a:xfrm>
            <a:off x="6899313" y="1122362"/>
            <a:ext cx="2847113" cy="288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441523" y="365127"/>
            <a:ext cx="8543925" cy="759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3500"/>
              <a:buFont typeface="Play"/>
              <a:buNone/>
            </a:pPr>
            <a:r>
              <a:rPr lang="pt-PT"/>
              <a:t>Técnica(s) utilizada(s) na estrágia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441523" y="1340768"/>
            <a:ext cx="8543925" cy="48361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5738" lvl="0" marL="18573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pt-PT" sz="2400"/>
              <a:t>Técnica ….</a:t>
            </a:r>
            <a:endParaRPr/>
          </a:p>
          <a:p>
            <a:pPr indent="-185737" lvl="1" marL="557213" rtl="0" algn="l">
              <a:lnSpc>
                <a:spcPct val="110000"/>
              </a:lnSpc>
              <a:spcBef>
                <a:spcPts val="406"/>
              </a:spcBef>
              <a:spcAft>
                <a:spcPts val="0"/>
              </a:spcAft>
              <a:buSzPts val="2000"/>
              <a:buChar char="•"/>
            </a:pPr>
            <a:r>
              <a:rPr lang="pt-PT" sz="2000"/>
              <a:t>Objetivo</a:t>
            </a:r>
            <a:endParaRPr/>
          </a:p>
          <a:p>
            <a:pPr indent="-185737" lvl="1" marL="557213" rtl="0" algn="l">
              <a:lnSpc>
                <a:spcPct val="110000"/>
              </a:lnSpc>
              <a:spcBef>
                <a:spcPts val="406"/>
              </a:spcBef>
              <a:spcAft>
                <a:spcPts val="0"/>
              </a:spcAft>
              <a:buSzPts val="2000"/>
              <a:buChar char="•"/>
            </a:pPr>
            <a:r>
              <a:rPr lang="pt-PT" sz="2000"/>
              <a:t>Implementação</a:t>
            </a:r>
            <a:endParaRPr/>
          </a:p>
          <a:p>
            <a:pPr indent="-185737" lvl="1" marL="557213" rtl="0" algn="l">
              <a:lnSpc>
                <a:spcPct val="110000"/>
              </a:lnSpc>
              <a:spcBef>
                <a:spcPts val="406"/>
              </a:spcBef>
              <a:spcAft>
                <a:spcPts val="0"/>
              </a:spcAft>
              <a:buSzPts val="2000"/>
              <a:buChar char="•"/>
            </a:pPr>
            <a:r>
              <a:rPr lang="pt-PT" sz="2000"/>
              <a:t>Resultados</a:t>
            </a:r>
            <a:endParaRPr/>
          </a:p>
          <a:p>
            <a:pPr indent="-185737" lvl="1" marL="557213" rtl="0" algn="l">
              <a:lnSpc>
                <a:spcPct val="110000"/>
              </a:lnSpc>
              <a:spcBef>
                <a:spcPts val="406"/>
              </a:spcBef>
              <a:spcAft>
                <a:spcPts val="0"/>
              </a:spcAft>
              <a:buSzPts val="2000"/>
              <a:buChar char="•"/>
            </a:pPr>
            <a:r>
              <a:rPr lang="pt-PT" sz="2000"/>
              <a:t>Etc.</a:t>
            </a:r>
            <a:endParaRPr/>
          </a:p>
        </p:txBody>
      </p:sp>
      <p:sp>
        <p:nvSpPr>
          <p:cNvPr id="122" name="Google Shape;122;p18"/>
          <p:cNvSpPr txBox="1"/>
          <p:nvPr>
            <p:ph idx="4294967295" type="body"/>
          </p:nvPr>
        </p:nvSpPr>
        <p:spPr>
          <a:xfrm>
            <a:off x="0" y="6664325"/>
            <a:ext cx="384175" cy="18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185738" lvl="0" marL="1857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6703"/>
              <a:buChar char="▪"/>
            </a:pPr>
            <a:r>
              <a:rPr lang="pt-PT"/>
              <a:t>0__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II_TP04a_Documentacao">
  <a:themeElements>
    <a:clrScheme name="Azul Quente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